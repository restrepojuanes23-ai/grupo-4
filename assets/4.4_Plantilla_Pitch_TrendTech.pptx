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03" r:id="rId2"/>
    <p:sldId id="504" r:id="rId3"/>
    <p:sldId id="505" r:id="rId4"/>
    <p:sldId id="506" r:id="rId5"/>
    <p:sldId id="507" r:id="rId6"/>
    <p:sldId id="508" r:id="rId7"/>
    <p:sldId id="509" r:id="rId8"/>
    <p:sldId id="510" r:id="rId9"/>
    <p:sldId id="511" r:id="rId10"/>
    <p:sldId id="512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0" r:id="rId19"/>
    <p:sldId id="521" r:id="rId20"/>
    <p:sldId id="522" r:id="rId21"/>
    <p:sldId id="523" r:id="rId22"/>
    <p:sldId id="524" r:id="rId23"/>
    <p:sldId id="525" r:id="rId24"/>
    <p:sldId id="526" r:id="rId25"/>
    <p:sldId id="527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8962B-667C-4B1E-A679-2EAE51F9D051}" type="datetimeFigureOut">
              <a:rPr lang="es-CO" smtClean="0"/>
              <a:t>21/10/2026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6D6CA-A20D-484E-8B96-2DD2A4D887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44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 · 0:30</a:t>
            </a:r>
          </a:p>
          <a:p>
            <a:r>
              <a:t>Nombre de la solución, eslogan y logo salen del issue 13 (Campaña de lanzamiento, docs/10-campana.md). Mientras no exista la campaña, dejen el nombre provisional del proyecto.</a:t>
            </a:r>
          </a:p>
          <a:p>
            <a:r>
              <a:t>Integrantes con su programa de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No se expone: sirve de guía al jurado. Los tiempos son los de la sustentación.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ORGANIZACIÓN · 0:45</a:t>
            </a:r>
          </a:p>
          <a:p>
            <a:r>
              <a:t>Fuente: docs/01-organizacion.md (issue 01).</a:t>
            </a:r>
          </a:p>
          <a:p>
            <a:r>
              <a:t>Un solo dato clave grande: la cifra que confirmó el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USUARIO · parte 1</a:t>
            </a:r>
          </a:p>
          <a:p>
            <a:r>
              <a:t>Fuente: docs/04-usuario.md (issue 05, Plan de entrevista).</a:t>
            </a:r>
          </a:p>
          <a:p>
            <a:r>
              <a:t>El usuario es la persona de la organización que vive la necesidad, no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USUARIO · parte 2</a:t>
            </a:r>
          </a:p>
          <a:p>
            <a:r>
              <a:t>Fuente: issue 06 (Mapa de empatía). Cada cuadrante con frases reales de la entrevista, no supuestos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1</a:t>
            </a:r>
          </a:p>
          <a:p>
            <a:r>
              <a:t>Fuente: docs/03-proceso-actual.md (issue 04). Exporten el BPMN en buena resolución y marquen PC1, PC2… en el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2</a:t>
            </a:r>
          </a:p>
          <a:p>
            <a:r>
              <a:t>Usen la plantilla sin mencionar la solución. Los datos deben estar confirmados por el contacto (docs/01-organizacion.md).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3</a:t>
            </a:r>
          </a:p>
          <a:p>
            <a:r>
              <a:t>Fuente: docs/05-canvas.md (issue 08). Peguen la imagen del Canvas diligenciado.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1</a:t>
            </a:r>
          </a:p>
          <a:p>
            <a:r>
              <a:t>Fuente: docs/02-planeacion.md (issue 02). Una línea por fase con lo que hizo el equipo, no la definición de la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2</a:t>
            </a:r>
          </a:p>
          <a:p>
            <a:r>
              <a:t>Fuente: repositorio y tablero de GitHub Projects (issue 02). Mencionar en una frase cada herramienta; no se explica GitHub al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3</a:t>
            </a:r>
          </a:p>
          <a:p>
            <a:r>
              <a:t>Fuente: docs/02-planeacion.md (issue 02). Captura de la vista Roadmap del tablero; se reemplaza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1</a:t>
            </a:r>
          </a:p>
          <a:p>
            <a:r>
              <a:t>Fuente: docs/07-prototipo.md (issue 07). Cada punto crítico del BPMN se vuelve un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2</a:t>
            </a:r>
          </a:p>
          <a:p>
            <a:r>
              <a:t>Fuente: docs/06-solucion.md (issue 09). Flujo de información en BPMN: entradas, procesos, salidas y responsables.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3</a:t>
            </a:r>
          </a:p>
          <a:p>
            <a:r>
              <a:t>Comparen el mismo paso del proceso hoy y con la solución. Usen datos cuando existan.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1</a:t>
            </a:r>
          </a:p>
          <a:p>
            <a:r>
              <a:t>Fuente: docs/07-prototipo.md (issue 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2</a:t>
            </a:r>
          </a:p>
          <a:p>
            <a:r>
              <a:t>Fuente: wireframes del issue 07 en assets/. Muestren el flujo principal en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3</a:t>
            </a:r>
          </a:p>
          <a:p>
            <a:r>
              <a:t>Fuentes: issues 10, 11 y 16, con las capturas de cada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4</a:t>
            </a:r>
          </a:p>
          <a:p>
            <a:r>
              <a:t>Aquí ocurre la demostración en vivo (la mayor parte de los 2:30). Tengan listo el equipo, las descargas y los datos de prueba. El video no reemplaza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1</a:t>
            </a:r>
          </a:p>
          <a:p>
            <a:r>
              <a:t>Fuente: docs/08-validacion.md (issue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2</a:t>
            </a:r>
          </a:p>
          <a:p>
            <a:r>
              <a:t>Métricas del plan de testeo y la retroalimentación textual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3</a:t>
            </a:r>
          </a:p>
          <a:p>
            <a:r>
              <a:t>Cada aprendizaje de la prueba con su ajuste en la v1.0 (issue 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CAMPAÑA</a:t>
            </a:r>
          </a:p>
          <a:p>
            <a:r>
              <a:t>Fuentes: issues 13 y 14, docs/10-campana.md. Los elementos físicos se exhiben durante la sustentación.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</a:t>
            </a:r>
          </a:p>
          <a:p>
            <a:r>
              <a:t>Cierren con el eslogan y abran los 5 minutos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ANEXO · no se expone</a:t>
            </a:r>
          </a:p>
          <a:p>
            <a:r>
              <a:t>Fuente: docs/09-riesgos.md (issue 12). Los tres riesgos de nivel más 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ANEXO · no se expone</a:t>
            </a:r>
          </a:p>
          <a:p>
            <a:r>
              <a:t>Fuente: docs/11-uso-ia.md (issue 17). Un registro por cada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3DA2"/>
              </a:gs>
              <a:gs pos="52000">
                <a:srgbClr val="00807F"/>
              </a:gs>
              <a:gs pos="100000">
                <a:srgbClr val="00BE6A"/>
              </a:gs>
            </a:gsLst>
            <a:lin ang="18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n 11" descr="Universidad Ean"/>
          <p:cNvPicPr>
            <a:picLocks noChangeAspect="1"/>
          </p:cNvPicPr>
          <p:nvPr/>
        </p:nvPicPr>
        <p:blipFill>
          <a:blip r:embed="rId3"/>
          <a:srcRect l="-66" r="-66"/>
          <a:stretch/>
        </p:blipFill>
        <p:spPr>
          <a:xfrm>
            <a:off x="9931400" y="508000"/>
            <a:ext cx="1498600" cy="660400"/>
          </a:xfrm>
          <a:prstGeom prst="rect">
            <a:avLst/>
          </a:prstGeom>
        </p:spPr>
      </p:pic>
      <p:pic>
        <p:nvPicPr>
          <p:cNvPr id="12" name="Imagen 12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9931400" y="5892800"/>
            <a:ext cx="1498600" cy="482600"/>
          </a:xfrm>
          <a:prstGeom prst="rect">
            <a:avLst/>
          </a:prstGeom>
        </p:spPr>
      </p:pic>
      <p:sp>
        <p:nvSpPr>
          <p:cNvPr id="13" name="Antetítulo"/>
          <p:cNvSpPr/>
          <p:nvPr/>
        </p:nvSpPr>
        <p:spPr>
          <a:xfrm>
            <a:off x="762000" y="1905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Trend &amp; Tech 2026 · [Nombre de la organización]</a:t>
            </a:r>
            <a:endParaRPr lang="es-CO" sz="2000" dirty="0"/>
          </a:p>
        </p:txBody>
      </p:sp>
      <p:sp>
        <p:nvSpPr>
          <p:cNvPr id="14" name="Título"/>
          <p:cNvSpPr/>
          <p:nvPr/>
        </p:nvSpPr>
        <p:spPr>
          <a:xfrm>
            <a:off x="762000" y="2413000"/>
            <a:ext cx="676656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[Nombre de la solución]</a:t>
            </a:r>
            <a:endParaRPr lang="es-CO" sz="5000" dirty="0"/>
          </a:p>
        </p:txBody>
      </p:sp>
      <p:sp>
        <p:nvSpPr>
          <p:cNvPr id="15" name="Subtítulo"/>
          <p:cNvSpPr/>
          <p:nvPr/>
        </p:nvSpPr>
        <p:spPr>
          <a:xfrm>
            <a:off x="762000" y="4089400"/>
            <a:ext cx="676656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rgbClr val="DCECF5"/>
                </a:solidFill>
                <a:latin typeface="Arial"/>
                <a:ea typeface="Arial"/>
                <a:cs typeface="Arial"/>
              </a:rPr>
              <a:t>[Eslogan: una frase que refleje el valor de la solución]</a:t>
            </a:r>
            <a:endParaRPr lang="es-CO" sz="1800" dirty="0"/>
          </a:p>
        </p:txBody>
      </p:sp>
      <p:sp>
        <p:nvSpPr>
          <p:cNvPr id="16" name="Docente"/>
          <p:cNvSpPr/>
          <p:nvPr/>
        </p:nvSpPr>
        <p:spPr>
          <a:xfrm>
            <a:off x="762000" y="5130800"/>
            <a:ext cx="863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[Integrante 1 · Programa]   [Integrante 2 · Programa]</a:t>
            </a:r>
            <a:endParaRPr lang="es-CO" sz="1500" dirty="0"/>
          </a:p>
          <a:p>
            <a:r>
              <a:rPr sz="1500">
                <a:solidFill>
                  <a:srgbClr val="FFFFFF"/>
                </a:solidFill>
                <a:latin typeface="Arial"/>
              </a:rPr>
              <a:t>[Integrante 3 · Programa]   [Integrante 4 · Programa]</a:t>
            </a:r>
          </a:p>
        </p:txBody>
      </p:sp>
      <p:sp>
        <p:nvSpPr>
          <p:cNvPr id="17" name="Pie"/>
          <p:cNvSpPr/>
          <p:nvPr/>
        </p:nvSpPr>
        <p:spPr>
          <a:xfrm>
            <a:off x="762000" y="63119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Facultad de Ingeniería · Unidad de estudio transversal · Ciclo 4 de 2026</a:t>
            </a:r>
            <a:endParaRPr lang="es-CO" sz="1100" dirty="0"/>
          </a:p>
        </p:txBody>
      </p:sp>
      <p:sp>
        <p:nvSpPr>
          <p:cNvPr id="18" name="Espacio para logo"/>
          <p:cNvSpPr/>
          <p:nvPr/>
        </p:nvSpPr>
        <p:spPr>
          <a:xfrm>
            <a:off x="7726679" y="20574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2057400"/>
            <a:ext cx="1645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[Logo de la campaña]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Agenda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10 minutos de exposición y 5 de preguntas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Número"/>
          <p:cNvSpPr/>
          <p:nvPr/>
        </p:nvSpPr>
        <p:spPr>
          <a:xfrm>
            <a:off x="987552" y="181965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16916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Portada</a:t>
            </a:r>
          </a:p>
        </p:txBody>
      </p:sp>
      <p:sp>
        <p:nvSpPr>
          <p:cNvPr id="20" name="Tarjeta"/>
          <p:cNvSpPr/>
          <p:nvPr/>
        </p:nvSpPr>
        <p:spPr>
          <a:xfrm>
            <a:off x="758952" y="269748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Número"/>
          <p:cNvSpPr/>
          <p:nvPr/>
        </p:nvSpPr>
        <p:spPr>
          <a:xfrm>
            <a:off x="987552" y="300837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Organización</a:t>
            </a:r>
          </a:p>
        </p:txBody>
      </p:sp>
      <p:sp>
        <p:nvSpPr>
          <p:cNvPr id="24" name="Tarjeta"/>
          <p:cNvSpPr/>
          <p:nvPr/>
        </p:nvSpPr>
        <p:spPr>
          <a:xfrm>
            <a:off x="758952" y="388620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Número"/>
          <p:cNvSpPr/>
          <p:nvPr/>
        </p:nvSpPr>
        <p:spPr>
          <a:xfrm>
            <a:off x="987552" y="419709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069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Usuario</a:t>
            </a:r>
          </a:p>
        </p:txBody>
      </p:sp>
      <p:sp>
        <p:nvSpPr>
          <p:cNvPr id="28" name="Tarjeta"/>
          <p:cNvSpPr/>
          <p:nvPr/>
        </p:nvSpPr>
        <p:spPr>
          <a:xfrm>
            <a:off x="758952" y="507492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Número"/>
          <p:cNvSpPr/>
          <p:nvPr/>
        </p:nvSpPr>
        <p:spPr>
          <a:xfrm>
            <a:off x="987552" y="538581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52578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Problema</a:t>
            </a:r>
          </a:p>
        </p:txBody>
      </p:sp>
      <p:sp>
        <p:nvSpPr>
          <p:cNvPr id="32" name="Tarjeta"/>
          <p:cNvSpPr/>
          <p:nvPr/>
        </p:nvSpPr>
        <p:spPr>
          <a:xfrm>
            <a:off x="5180076" y="150876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Número"/>
          <p:cNvSpPr/>
          <p:nvPr/>
        </p:nvSpPr>
        <p:spPr>
          <a:xfrm>
            <a:off x="5408676" y="181965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3036" y="16916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Metodología</a:t>
            </a:r>
          </a:p>
        </p:txBody>
      </p:sp>
      <p:sp>
        <p:nvSpPr>
          <p:cNvPr id="36" name="Tarjeta"/>
          <p:cNvSpPr/>
          <p:nvPr/>
        </p:nvSpPr>
        <p:spPr>
          <a:xfrm>
            <a:off x="5180076" y="269748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Número"/>
          <p:cNvSpPr/>
          <p:nvPr/>
        </p:nvSpPr>
        <p:spPr>
          <a:xfrm>
            <a:off x="5408676" y="300837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3036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Solución</a:t>
            </a:r>
          </a:p>
        </p:txBody>
      </p:sp>
      <p:sp>
        <p:nvSpPr>
          <p:cNvPr id="40" name="Tarjeta"/>
          <p:cNvSpPr/>
          <p:nvPr/>
        </p:nvSpPr>
        <p:spPr>
          <a:xfrm>
            <a:off x="5180076" y="388620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Número"/>
          <p:cNvSpPr/>
          <p:nvPr/>
        </p:nvSpPr>
        <p:spPr>
          <a:xfrm>
            <a:off x="5408676" y="419709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3036" y="4069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Prototipo</a:t>
            </a:r>
          </a:p>
        </p:txBody>
      </p:sp>
      <p:sp>
        <p:nvSpPr>
          <p:cNvPr id="44" name="Tarjeta"/>
          <p:cNvSpPr/>
          <p:nvPr/>
        </p:nvSpPr>
        <p:spPr>
          <a:xfrm>
            <a:off x="5180076" y="507492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Número"/>
          <p:cNvSpPr/>
          <p:nvPr/>
        </p:nvSpPr>
        <p:spPr>
          <a:xfrm>
            <a:off x="5408676" y="538581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3036" y="52578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Validación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[Nombre de la organización]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2 · Organización · 0:45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docs/01-organizacion.md (issue 01).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 QUÉ SE DEDICA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210312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[Actividad principal en una frase]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 QUIÉN ATIENDE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20040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[Clientes o beneficiarios]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97763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UBICACIÓN Y TAMAÑO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297679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[Ciudad · sedes · empleados]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5074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CONTACTO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394959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[Nombre, cargo y relación con el equipo]</a:t>
            </a:r>
          </a:p>
        </p:txBody>
      </p:sp>
      <p:sp>
        <p:nvSpPr>
          <p:cNvPr id="26" name="Espacio para imagen"/>
          <p:cNvSpPr/>
          <p:nvPr/>
        </p:nvSpPr>
        <p:spPr>
          <a:xfrm>
            <a:off x="6108192" y="1508760"/>
            <a:ext cx="3310128" cy="265176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1508760"/>
            <a:ext cx="2944368" cy="2651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o logo de la organización]</a:t>
            </a:r>
          </a:p>
        </p:txBody>
      </p:sp>
      <p:sp>
        <p:nvSpPr>
          <p:cNvPr id="28" name="Tarjeta"/>
          <p:cNvSpPr/>
          <p:nvPr/>
        </p:nvSpPr>
        <p:spPr>
          <a:xfrm>
            <a:off x="6108192" y="4343400"/>
            <a:ext cx="331012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4526280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[ 000 ]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5212080"/>
            <a:ext cx="285292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[Dato clave: qué mide y quién lo confirmó]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[Usuario]: quién vive el problema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3 · Usuario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docs/04-usuario.md (issue 05, Plan de entrevista).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3749039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338327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de la entrevista]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Con permiso del usuario</a:t>
            </a:r>
          </a:p>
        </p:txBody>
      </p:sp>
      <p:sp>
        <p:nvSpPr>
          <p:cNvPr id="19" name="Tarjeta"/>
          <p:cNvSpPr/>
          <p:nvPr/>
        </p:nvSpPr>
        <p:spPr>
          <a:xfrm>
            <a:off x="4736592" y="1508760"/>
            <a:ext cx="468172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0912" y="17373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PERFIL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2103120"/>
            <a:ext cx="408736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[Cargo y área]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[Tiempo en el proceso]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[Qué hace en el proceso elegido]</a:t>
            </a:r>
          </a:p>
        </p:txBody>
      </p:sp>
      <p:sp>
        <p:nvSpPr>
          <p:cNvPr id="22" name="Tarjeta"/>
          <p:cNvSpPr/>
          <p:nvPr/>
        </p:nvSpPr>
        <p:spPr>
          <a:xfrm>
            <a:off x="4736592" y="3703320"/>
            <a:ext cx="4681728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10912" y="3931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LO QUE NOS DIJO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4297679"/>
            <a:ext cx="408736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1">
                <a:solidFill>
                  <a:srgbClr val="14345F"/>
                </a:solidFill>
                <a:latin typeface="Arial"/>
              </a:rPr>
              <a:t>«[Frase textual de la entrevista]»</a:t>
            </a:r>
          </a:p>
          <a:p>
            <a:pPr algn="l">
              <a:spcAft>
                <a:spcPts val="1200"/>
              </a:spcAft>
            </a:pPr>
            <a:r>
              <a:rPr sz="1600" b="0" i="1">
                <a:solidFill>
                  <a:srgbClr val="14345F"/>
                </a:solidFill>
                <a:latin typeface="Arial"/>
              </a:rPr>
              <a:t>«[Frase textual de la entrevista]»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Mapa de empatía de [usuario]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3 · Usuario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 06 (Mapa de empatía)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PIENSA Y SIENTE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0" name="Tarjeta"/>
          <p:cNvSpPr/>
          <p:nvPr/>
        </p:nvSpPr>
        <p:spPr>
          <a:xfrm>
            <a:off x="3706368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4968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4968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3" name="Tarjeta"/>
          <p:cNvSpPr/>
          <p:nvPr/>
        </p:nvSpPr>
        <p:spPr>
          <a:xfrm>
            <a:off x="6653784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82384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OYE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2384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6" name="Tarjeta"/>
          <p:cNvSpPr/>
          <p:nvPr/>
        </p:nvSpPr>
        <p:spPr>
          <a:xfrm>
            <a:off x="758952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DICE Y HACE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9" name="Tarjeta"/>
          <p:cNvSpPr/>
          <p:nvPr/>
        </p:nvSpPr>
        <p:spPr>
          <a:xfrm>
            <a:off x="3706368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4968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ESFUERZOS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4968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32" name="Tarjeta"/>
          <p:cNvSpPr/>
          <p:nvPr/>
        </p:nvSpPr>
        <p:spPr>
          <a:xfrm>
            <a:off x="6653784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82384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RESULTADOS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2384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Así funciona hoy [proceso]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docs/03-proceso-actual.md (issue 04)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576072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39495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[BPMN del proceso actual]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assets/bpmn-actual.png</a:t>
            </a:r>
          </a:p>
        </p:txBody>
      </p:sp>
      <p:sp>
        <p:nvSpPr>
          <p:cNvPr id="19" name="Tarjeta"/>
          <p:cNvSpPr/>
          <p:nvPr/>
        </p:nvSpPr>
        <p:spPr>
          <a:xfrm>
            <a:off x="6748272" y="150876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Número"/>
          <p:cNvSpPr/>
          <p:nvPr/>
        </p:nvSpPr>
        <p:spPr>
          <a:xfrm>
            <a:off x="6931152" y="170992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170992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194560"/>
            <a:ext cx="23042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[Dónde se demora, se repite o se pierde información]</a:t>
            </a:r>
          </a:p>
        </p:txBody>
      </p:sp>
      <p:sp>
        <p:nvSpPr>
          <p:cNvPr id="23" name="Tarjeta"/>
          <p:cNvSpPr/>
          <p:nvPr/>
        </p:nvSpPr>
        <p:spPr>
          <a:xfrm>
            <a:off x="6748272" y="315468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Número"/>
          <p:cNvSpPr/>
          <p:nvPr/>
        </p:nvSpPr>
        <p:spPr>
          <a:xfrm>
            <a:off x="6931152" y="335584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335584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840480"/>
            <a:ext cx="23042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[Dónde se demora, se repite o se pierde información]</a:t>
            </a:r>
          </a:p>
        </p:txBody>
      </p:sp>
      <p:sp>
        <p:nvSpPr>
          <p:cNvPr id="27" name="Tarjeta"/>
          <p:cNvSpPr/>
          <p:nvPr/>
        </p:nvSpPr>
        <p:spPr>
          <a:xfrm>
            <a:off x="6748272" y="480060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Número"/>
          <p:cNvSpPr/>
          <p:nvPr/>
        </p:nvSpPr>
        <p:spPr>
          <a:xfrm>
            <a:off x="6931152" y="500176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500176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5486400"/>
            <a:ext cx="23042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[Dónde se demora, se repite o se pierde información]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El problema en una frase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8659368" cy="2377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6152" y="1508760"/>
            <a:ext cx="7744968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4345F"/>
                </a:solidFill>
                <a:latin typeface="Arial"/>
              </a:rPr>
              <a:t>«En [organización], [usuario] necesita [lograr qué] porque hoy [situación actual], lo que causa [consecuencia observable].»</a:t>
            </a:r>
          </a:p>
        </p:txBody>
      </p:sp>
      <p:sp>
        <p:nvSpPr>
          <p:cNvPr id="18" name="Tarjeta"/>
          <p:cNvSpPr/>
          <p:nvPr/>
        </p:nvSpPr>
        <p:spPr>
          <a:xfrm>
            <a:off x="758952" y="4114800"/>
            <a:ext cx="42382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297680"/>
            <a:ext cx="37810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[ 000 ]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983480"/>
            <a:ext cx="37810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[Dato que muestra el tamaño del problema]</a:t>
            </a:r>
          </a:p>
        </p:txBody>
      </p:sp>
      <p:sp>
        <p:nvSpPr>
          <p:cNvPr id="21" name="Tarjeta"/>
          <p:cNvSpPr/>
          <p:nvPr/>
        </p:nvSpPr>
        <p:spPr>
          <a:xfrm>
            <a:off x="5180076" y="4114800"/>
            <a:ext cx="42382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8676" y="4297680"/>
            <a:ext cx="37810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[ 000 ]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8676" y="4983480"/>
            <a:ext cx="37810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[Consecuencia medida: tiempo, dinero o errores]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Canvas del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docs/05-canvas.md (issue 08)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603504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66927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[Canvas del proyecto]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assets/canvas.png</a:t>
            </a:r>
          </a:p>
        </p:txBody>
      </p:sp>
      <p:sp>
        <p:nvSpPr>
          <p:cNvPr id="19" name="Tarjeta"/>
          <p:cNvSpPr/>
          <p:nvPr/>
        </p:nvSpPr>
        <p:spPr>
          <a:xfrm>
            <a:off x="7022592" y="1508760"/>
            <a:ext cx="239572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17830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NECESIDAD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148839"/>
            <a:ext cx="193852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[La necesidad identificada en una frase]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3886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PROPUESTA DE VALOR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425196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[Qué gana el usuario con la solución]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Cómo trabajamos: Lean UX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docs/02-planeacion.md (issue 02)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Idear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[Entrevista, BPMN y mapa de empatía]</a:t>
            </a:r>
          </a:p>
        </p:txBody>
      </p:sp>
      <p:sp>
        <p:nvSpPr>
          <p:cNvPr id="21" name="Flecha"/>
          <p:cNvSpPr/>
          <p:nvPr/>
        </p:nvSpPr>
        <p:spPr>
          <a:xfrm>
            <a:off x="2670048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arjeta"/>
          <p:cNvSpPr/>
          <p:nvPr/>
        </p:nvSpPr>
        <p:spPr>
          <a:xfrm>
            <a:off x="3026664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Número"/>
          <p:cNvSpPr/>
          <p:nvPr/>
        </p:nvSpPr>
        <p:spPr>
          <a:xfrm>
            <a:off x="3255264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Pensar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5264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[Canvas, solución y requisitos]</a:t>
            </a:r>
          </a:p>
        </p:txBody>
      </p:sp>
      <p:sp>
        <p:nvSpPr>
          <p:cNvPr id="26" name="Flecha"/>
          <p:cNvSpPr/>
          <p:nvPr/>
        </p:nvSpPr>
        <p:spPr>
          <a:xfrm>
            <a:off x="4937760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arjeta"/>
          <p:cNvSpPr/>
          <p:nvPr/>
        </p:nvSpPr>
        <p:spPr>
          <a:xfrm>
            <a:off x="5294376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Número"/>
          <p:cNvSpPr/>
          <p:nvPr/>
        </p:nvSpPr>
        <p:spPr>
          <a:xfrm>
            <a:off x="5522976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76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Hacer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2976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[Prototipo v0.1 y v0.5]</a:t>
            </a:r>
          </a:p>
        </p:txBody>
      </p:sp>
      <p:sp>
        <p:nvSpPr>
          <p:cNvPr id="31" name="Flecha"/>
          <p:cNvSpPr/>
          <p:nvPr/>
        </p:nvSpPr>
        <p:spPr>
          <a:xfrm>
            <a:off x="7205472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rjeta"/>
          <p:cNvSpPr/>
          <p:nvPr/>
        </p:nvSpPr>
        <p:spPr>
          <a:xfrm>
            <a:off x="7562088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Número"/>
          <p:cNvSpPr/>
          <p:nvPr/>
        </p:nvSpPr>
        <p:spPr>
          <a:xfrm>
            <a:off x="7790688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Evaluar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[Prueba con el usuario y v1.0]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623560"/>
            <a:ext cx="8659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B7A8F"/>
                </a:solidFill>
                <a:latin typeface="Arial"/>
              </a:rPr>
              <a:t>Construir lo mínimo, probarlo con el usuario y aprender antes de seguir.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Cómo gestionamos 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repositorio y tablero de GitHub Projects (issue 02)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Repositorio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TRABAJO COLABORATIVO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Documento en docs/, prototipo, pitch y evidencias en un solo lugar.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commits del equipo</a:t>
            </a:r>
          </a:p>
        </p:txBody>
      </p:sp>
      <p:sp>
        <p:nvSpPr>
          <p:cNvPr id="24" name="Tarjeta"/>
          <p:cNvSpPr/>
          <p:nvPr/>
        </p:nvSpPr>
        <p:spPr>
          <a:xfrm>
            <a:off x="3706368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Número"/>
          <p:cNvSpPr/>
          <p:nvPr/>
        </p:nvSpPr>
        <p:spPr>
          <a:xfrm>
            <a:off x="3934968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4968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Tablero Kanban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4968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GESTIÓN DEL PROYECTO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4968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Cada tarea es un issue con responsable, etiqueta e hito; avanza de Backlog a Hecho.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4968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4968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issues cerrados</a:t>
            </a:r>
          </a:p>
        </p:txBody>
      </p:sp>
      <p:sp>
        <p:nvSpPr>
          <p:cNvPr id="31" name="Tarjeta"/>
          <p:cNvSpPr/>
          <p:nvPr/>
        </p:nvSpPr>
        <p:spPr>
          <a:xfrm>
            <a:off x="6653784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Número"/>
          <p:cNvSpPr/>
          <p:nvPr/>
        </p:nvSpPr>
        <p:spPr>
          <a:xfrm>
            <a:off x="6882384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2384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2384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PLANEACIÓN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2384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Las fechas de cada issue arman el diagrama de Gantt.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2384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2384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semanas de trabajo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Plan del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docs/02-planeacion.md (issue 02)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621792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85215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[Captura del Gantt]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Vista Roadmap del tablero · assets/gantt.png · se actualiza cada semana</a:t>
            </a:r>
          </a:p>
        </p:txBody>
      </p:sp>
      <p:sp>
        <p:nvSpPr>
          <p:cNvPr id="19" name="Tarjeta"/>
          <p:cNvSpPr/>
          <p:nvPr/>
        </p:nvSpPr>
        <p:spPr>
          <a:xfrm>
            <a:off x="7205472" y="1508760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1" y="1691639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2377439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issues cerrados</a:t>
            </a:r>
          </a:p>
        </p:txBody>
      </p:sp>
      <p:sp>
        <p:nvSpPr>
          <p:cNvPr id="22" name="Tarjeta"/>
          <p:cNvSpPr/>
          <p:nvPr/>
        </p:nvSpPr>
        <p:spPr>
          <a:xfrm>
            <a:off x="7205472" y="3127248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34071" y="3310128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399592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commits del equipo</a:t>
            </a:r>
          </a:p>
        </p:txBody>
      </p:sp>
      <p:sp>
        <p:nvSpPr>
          <p:cNvPr id="25" name="Tarjeta"/>
          <p:cNvSpPr/>
          <p:nvPr/>
        </p:nvSpPr>
        <p:spPr>
          <a:xfrm>
            <a:off x="7205472" y="4745736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1" y="4928616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5614416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semanas de trabajo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 los puntos críticos a los requisitos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docs/07-prototipo.md (issue 07)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17373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17373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2402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falla hoy]</a:t>
            </a:r>
          </a:p>
        </p:txBody>
      </p:sp>
      <p:sp>
        <p:nvSpPr>
          <p:cNvPr id="21" name="Flecha"/>
          <p:cNvSpPr/>
          <p:nvPr/>
        </p:nvSpPr>
        <p:spPr>
          <a:xfrm>
            <a:off x="4690872" y="20574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arjeta"/>
          <p:cNvSpPr/>
          <p:nvPr/>
        </p:nvSpPr>
        <p:spPr>
          <a:xfrm>
            <a:off x="5422392" y="15087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17373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22402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debe hacer el prototipo para resolverlo]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31089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Número"/>
          <p:cNvSpPr/>
          <p:nvPr/>
        </p:nvSpPr>
        <p:spPr>
          <a:xfrm>
            <a:off x="987552" y="33375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3375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840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falla hoy]</a:t>
            </a:r>
          </a:p>
        </p:txBody>
      </p:sp>
      <p:sp>
        <p:nvSpPr>
          <p:cNvPr id="29" name="Flecha"/>
          <p:cNvSpPr/>
          <p:nvPr/>
        </p:nvSpPr>
        <p:spPr>
          <a:xfrm>
            <a:off x="4690872" y="36576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arjeta"/>
          <p:cNvSpPr/>
          <p:nvPr/>
        </p:nvSpPr>
        <p:spPr>
          <a:xfrm>
            <a:off x="5422392" y="31089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50992" y="33375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38404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debe hacer el prototipo para resolverlo]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47091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Número"/>
          <p:cNvSpPr/>
          <p:nvPr/>
        </p:nvSpPr>
        <p:spPr>
          <a:xfrm>
            <a:off x="987552" y="49377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49377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4406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falla hoy]</a:t>
            </a:r>
          </a:p>
        </p:txBody>
      </p:sp>
      <p:sp>
        <p:nvSpPr>
          <p:cNvPr id="37" name="Flecha"/>
          <p:cNvSpPr/>
          <p:nvPr/>
        </p:nvSpPr>
        <p:spPr>
          <a:xfrm>
            <a:off x="4690872" y="52578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arjeta"/>
          <p:cNvSpPr/>
          <p:nvPr/>
        </p:nvSpPr>
        <p:spPr>
          <a:xfrm>
            <a:off x="5422392" y="47091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50992" y="49377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54406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debe hacer el prototipo para resolverlo]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[Nombre de la solución]: cómo funciona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docs/06-solucion.md (issue 09)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576072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39495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[Flujo de información en BPMN]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assets/flujo-informacion.png</a:t>
            </a:r>
          </a:p>
        </p:txBody>
      </p:sp>
      <p:sp>
        <p:nvSpPr>
          <p:cNvPr id="19" name="Tarjeta"/>
          <p:cNvSpPr/>
          <p:nvPr/>
        </p:nvSpPr>
        <p:spPr>
          <a:xfrm>
            <a:off x="6748272" y="1508760"/>
            <a:ext cx="267004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76872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LA SOLUCIÓN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148839"/>
            <a:ext cx="221284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[Qué hace la solución en una o dos frases]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4160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TECNOLOGÍA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526279"/>
            <a:ext cx="221284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[Herramientas usadas y por qué]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Antes y después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4238244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1783080"/>
            <a:ext cx="35981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6B7A8F"/>
                </a:solidFill>
                <a:latin typeface="Arial"/>
              </a:rPr>
              <a:t>Hoy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51460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1]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0332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2]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89204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3]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ocurre]</a:t>
            </a:r>
          </a:p>
        </p:txBody>
      </p:sp>
      <p:sp>
        <p:nvSpPr>
          <p:cNvPr id="21" name="Tarjeta"/>
          <p:cNvSpPr/>
          <p:nvPr/>
        </p:nvSpPr>
        <p:spPr>
          <a:xfrm>
            <a:off x="5180076" y="1508760"/>
            <a:ext cx="4238244" cy="4754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00116" y="1783080"/>
            <a:ext cx="35981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3DA2"/>
                </a:solidFill>
                <a:latin typeface="Arial"/>
              </a:rPr>
              <a:t>Con [nombre de la solución]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116" y="251460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1]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 con la solución]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0116" y="370332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2]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 con la solución]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116" y="489204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3]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 con la solución]</a:t>
            </a:r>
          </a:p>
        </p:txBody>
      </p:sp>
      <p:sp>
        <p:nvSpPr>
          <p:cNvPr id="26" name="Flecha"/>
          <p:cNvSpPr/>
          <p:nvPr/>
        </p:nvSpPr>
        <p:spPr>
          <a:xfrm>
            <a:off x="4841748" y="3749039"/>
            <a:ext cx="45720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Hipótesis y alcance del prototipo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docs/07-prototipo.md (issue 07).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8659368" cy="14630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1508760"/>
            <a:ext cx="7927848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4345F"/>
                </a:solidFill>
                <a:latin typeface="Arial"/>
              </a:rPr>
              <a:t>Creemos que [solución] para [usuario] logrará [resultado]. Sabremos que es cierto cuando [métrica observable].</a:t>
            </a:r>
          </a:p>
        </p:txBody>
      </p:sp>
      <p:sp>
        <p:nvSpPr>
          <p:cNvPr id="19" name="Tarjeta"/>
          <p:cNvSpPr/>
          <p:nvPr/>
        </p:nvSpPr>
        <p:spPr>
          <a:xfrm>
            <a:off x="758952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BE6A"/>
                </a:solidFill>
                <a:latin typeface="Arial"/>
              </a:rPr>
              <a:t>DEBE TENER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</p:txBody>
      </p:sp>
      <p:sp>
        <p:nvSpPr>
          <p:cNvPr id="22" name="Tarjeta"/>
          <p:cNvSpPr/>
          <p:nvPr/>
        </p:nvSpPr>
        <p:spPr>
          <a:xfrm>
            <a:off x="3706368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4968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PUEDE ESPERAR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4968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</p:txBody>
      </p:sp>
      <p:sp>
        <p:nvSpPr>
          <p:cNvPr id="25" name="Tarjeta"/>
          <p:cNvSpPr/>
          <p:nvPr/>
        </p:nvSpPr>
        <p:spPr>
          <a:xfrm>
            <a:off x="6653784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82384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B7A8F"/>
                </a:solidFill>
                <a:latin typeface="Arial"/>
              </a:rPr>
              <a:t>NO SE HACE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2384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Diseño: wireframes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wireframes del issue 07 en assets/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2337816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[Wireframe pantalla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hace el usuario en la pantalla 1]</a:t>
            </a:r>
          </a:p>
        </p:txBody>
      </p:sp>
      <p:sp>
        <p:nvSpPr>
          <p:cNvPr id="20" name="Espacio para imagen"/>
          <p:cNvSpPr/>
          <p:nvPr/>
        </p:nvSpPr>
        <p:spPr>
          <a:xfrm>
            <a:off x="3736848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19728" y="1508760"/>
            <a:ext cx="2337816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[Wireframe pantalla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6848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hace el usuario en la pantalla 2]</a:t>
            </a:r>
          </a:p>
        </p:txBody>
      </p:sp>
      <p:sp>
        <p:nvSpPr>
          <p:cNvPr id="23" name="Espacio para imagen"/>
          <p:cNvSpPr/>
          <p:nvPr/>
        </p:nvSpPr>
        <p:spPr>
          <a:xfrm>
            <a:off x="6714744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7624" y="1508760"/>
            <a:ext cx="2337816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[Wireframe pantalla 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4744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hace el usuario en la pantalla 3]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Del boceto al prototipo funcional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issues 10, 11 y 16, con las capturas de cada versión.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2246376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[Captura v0.1]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v0.1 · Semana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[Navegable, sin datos]</a:t>
            </a:r>
          </a:p>
        </p:txBody>
      </p:sp>
      <p:sp>
        <p:nvSpPr>
          <p:cNvPr id="21" name="Flecha"/>
          <p:cNvSpPr/>
          <p:nvPr/>
        </p:nvSpPr>
        <p:spPr>
          <a:xfrm>
            <a:off x="3425952" y="301752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spacio para imagen"/>
          <p:cNvSpPr/>
          <p:nvPr/>
        </p:nvSpPr>
        <p:spPr>
          <a:xfrm>
            <a:off x="3782568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5448" y="1508760"/>
            <a:ext cx="2246376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[Captura v0.5]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2568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v0.5 · Semana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2568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[Flujo principal con datos reales]</a:t>
            </a:r>
          </a:p>
        </p:txBody>
      </p:sp>
      <p:sp>
        <p:nvSpPr>
          <p:cNvPr id="26" name="Flecha"/>
          <p:cNvSpPr/>
          <p:nvPr/>
        </p:nvSpPr>
        <p:spPr>
          <a:xfrm>
            <a:off x="6449568" y="301752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spacio para imagen"/>
          <p:cNvSpPr/>
          <p:nvPr/>
        </p:nvSpPr>
        <p:spPr>
          <a:xfrm>
            <a:off x="6806184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89064" y="1508760"/>
            <a:ext cx="2246376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[Captura v1.0]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6184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v1.0 · Semana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6184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[Ajustada tras la prueba con el usuario]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Demostración en vivo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Número"/>
          <p:cNvSpPr/>
          <p:nvPr/>
        </p:nvSpPr>
        <p:spPr>
          <a:xfrm>
            <a:off x="987552" y="20116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1691639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1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[Qué se muestra funcionando]</a:t>
            </a:r>
          </a:p>
        </p:txBody>
      </p:sp>
      <p:sp>
        <p:nvSpPr>
          <p:cNvPr id="19" name="Tarjeta"/>
          <p:cNvSpPr/>
          <p:nvPr/>
        </p:nvSpPr>
        <p:spPr>
          <a:xfrm>
            <a:off x="758952" y="3108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Número"/>
          <p:cNvSpPr/>
          <p:nvPr/>
        </p:nvSpPr>
        <p:spPr>
          <a:xfrm>
            <a:off x="987552" y="36118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329184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2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[Qué se muestra funcionando]</a:t>
            </a:r>
          </a:p>
        </p:txBody>
      </p:sp>
      <p:sp>
        <p:nvSpPr>
          <p:cNvPr id="22" name="Tarjeta"/>
          <p:cNvSpPr/>
          <p:nvPr/>
        </p:nvSpPr>
        <p:spPr>
          <a:xfrm>
            <a:off x="758952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Número"/>
          <p:cNvSpPr/>
          <p:nvPr/>
        </p:nvSpPr>
        <p:spPr>
          <a:xfrm>
            <a:off x="987552" y="52120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89204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[Qué se muestra funcionando]</a:t>
            </a:r>
          </a:p>
        </p:txBody>
      </p:sp>
      <p:sp>
        <p:nvSpPr>
          <p:cNvPr id="25" name="Espacio para imagen"/>
          <p:cNvSpPr/>
          <p:nvPr/>
        </p:nvSpPr>
        <p:spPr>
          <a:xfrm>
            <a:off x="6108192" y="1508760"/>
            <a:ext cx="3310128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1072" y="1508760"/>
            <a:ext cx="2944368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[QR o enlace al video de funcionalidad]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Respaldo si falla la demo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Prueba con el usuario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docs/08-validacion.md (issue 15).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17099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MÉTODO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2075688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[Método elegido entre los 5 investigados y por qué]</a:t>
            </a:r>
          </a:p>
        </p:txBody>
      </p:sp>
      <p:sp>
        <p:nvSpPr>
          <p:cNvPr id="20" name="Tarjeta"/>
          <p:cNvSpPr/>
          <p:nvPr/>
        </p:nvSpPr>
        <p:spPr>
          <a:xfrm>
            <a:off x="758952" y="3108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33101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PARTICIPANTES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675887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[Quién y cuántos]</a:t>
            </a:r>
          </a:p>
        </p:txBody>
      </p:sp>
      <p:sp>
        <p:nvSpPr>
          <p:cNvPr id="23" name="Tarjeta"/>
          <p:cNvSpPr/>
          <p:nvPr/>
        </p:nvSpPr>
        <p:spPr>
          <a:xfrm>
            <a:off x="758952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1" y="4910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276088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[Qué le pedimos hacer al usuario]</a:t>
            </a:r>
          </a:p>
        </p:txBody>
      </p:sp>
      <p:sp>
        <p:nvSpPr>
          <p:cNvPr id="26" name="Espacio para imagen"/>
          <p:cNvSpPr/>
          <p:nvPr/>
        </p:nvSpPr>
        <p:spPr>
          <a:xfrm>
            <a:off x="6108192" y="1508760"/>
            <a:ext cx="3310128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1508760"/>
            <a:ext cx="2944368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de la prueba]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Fecha y lugar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Resultados de la prueba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 / 0 ]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tareas logradas</a:t>
            </a:r>
          </a:p>
        </p:txBody>
      </p:sp>
      <p:sp>
        <p:nvSpPr>
          <p:cNvPr id="19" name="Tarjeta"/>
          <p:cNvSpPr/>
          <p:nvPr/>
        </p:nvSpPr>
        <p:spPr>
          <a:xfrm>
            <a:off x="3672840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01440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 min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1440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tiempo promedio</a:t>
            </a:r>
          </a:p>
        </p:txBody>
      </p:sp>
      <p:sp>
        <p:nvSpPr>
          <p:cNvPr id="22" name="Tarjeta"/>
          <p:cNvSpPr/>
          <p:nvPr/>
        </p:nvSpPr>
        <p:spPr>
          <a:xfrm>
            <a:off x="6586728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5328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5328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errores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3566160"/>
            <a:ext cx="8659368" cy="26974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" y="3794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LO QUE DIJO EL USUARIO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206240"/>
            <a:ext cx="7927848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14345F"/>
                </a:solidFill>
                <a:latin typeface="Arial"/>
              </a:rPr>
              <a:t>«[Retroalimentación textual del usuario]»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Qué aprendimos y qué cambiamos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1691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0574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[Lo que observamos en la prueba]</a:t>
            </a:r>
          </a:p>
        </p:txBody>
      </p:sp>
      <p:sp>
        <p:nvSpPr>
          <p:cNvPr id="19" name="Flecha"/>
          <p:cNvSpPr/>
          <p:nvPr/>
        </p:nvSpPr>
        <p:spPr>
          <a:xfrm>
            <a:off x="4828032" y="20574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arjeta"/>
          <p:cNvSpPr/>
          <p:nvPr/>
        </p:nvSpPr>
        <p:spPr>
          <a:xfrm>
            <a:off x="5468112" y="15087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1691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20574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[Cambio hecho en la v1.0]</a:t>
            </a:r>
          </a:p>
        </p:txBody>
      </p:sp>
      <p:sp>
        <p:nvSpPr>
          <p:cNvPr id="23" name="Tarjeta"/>
          <p:cNvSpPr/>
          <p:nvPr/>
        </p:nvSpPr>
        <p:spPr>
          <a:xfrm>
            <a:off x="758952" y="3108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3291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6576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[Lo que observamos en la prueba]</a:t>
            </a:r>
          </a:p>
        </p:txBody>
      </p:sp>
      <p:sp>
        <p:nvSpPr>
          <p:cNvPr id="26" name="Flecha"/>
          <p:cNvSpPr/>
          <p:nvPr/>
        </p:nvSpPr>
        <p:spPr>
          <a:xfrm>
            <a:off x="4828032" y="36576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arjeta"/>
          <p:cNvSpPr/>
          <p:nvPr/>
        </p:nvSpPr>
        <p:spPr>
          <a:xfrm>
            <a:off x="5468112" y="31089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96712" y="3291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36576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[Cambio hecho en la v1.0]</a:t>
            </a:r>
          </a:p>
        </p:txBody>
      </p:sp>
      <p:sp>
        <p:nvSpPr>
          <p:cNvPr id="30" name="Tarjeta"/>
          <p:cNvSpPr/>
          <p:nvPr/>
        </p:nvSpPr>
        <p:spPr>
          <a:xfrm>
            <a:off x="758952" y="47091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892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2578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[Lo que observamos en la prueba]</a:t>
            </a:r>
          </a:p>
        </p:txBody>
      </p:sp>
      <p:sp>
        <p:nvSpPr>
          <p:cNvPr id="33" name="Flecha"/>
          <p:cNvSpPr/>
          <p:nvPr/>
        </p:nvSpPr>
        <p:spPr>
          <a:xfrm>
            <a:off x="4828032" y="52578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arjeta"/>
          <p:cNvSpPr/>
          <p:nvPr/>
        </p:nvSpPr>
        <p:spPr>
          <a:xfrm>
            <a:off x="5468112" y="47091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96712" y="4892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6712" y="52578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[Cambio hecho en la v1.0]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Campaña de lanzamiento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1 · Portada · logo, eslogan y elementos FabLab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issues 13 y 14, docs/10-campana.md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310896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Espacio para imagen"/>
          <p:cNvSpPr/>
          <p:nvPr/>
        </p:nvSpPr>
        <p:spPr>
          <a:xfrm>
            <a:off x="1033271" y="1783080"/>
            <a:ext cx="2560320" cy="21031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1" y="1783080"/>
            <a:ext cx="219456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[Logo]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14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NOMBRE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4348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345F"/>
                </a:solidFill>
                <a:latin typeface="Arial"/>
              </a:rPr>
              <a:t>[Nombre de la solución]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5074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ESLOGAN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539496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4345F"/>
                </a:solidFill>
                <a:latin typeface="Arial"/>
              </a:rPr>
              <a:t>[Eslogan]</a:t>
            </a:r>
          </a:p>
        </p:txBody>
      </p:sp>
      <p:sp>
        <p:nvSpPr>
          <p:cNvPr id="24" name="Espacio para imagen"/>
          <p:cNvSpPr/>
          <p:nvPr/>
        </p:nvSpPr>
        <p:spPr>
          <a:xfrm>
            <a:off x="4096511" y="1508760"/>
            <a:ext cx="2546604" cy="38404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9392" y="1508760"/>
            <a:ext cx="2180844" cy="3840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elemento FabLab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5486400"/>
            <a:ext cx="254660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es, material y técnica: corte láser, impresión 3D o vinilo]</a:t>
            </a:r>
          </a:p>
        </p:txBody>
      </p:sp>
      <p:sp>
        <p:nvSpPr>
          <p:cNvPr id="27" name="Espacio para imagen"/>
          <p:cNvSpPr/>
          <p:nvPr/>
        </p:nvSpPr>
        <p:spPr>
          <a:xfrm>
            <a:off x="6871716" y="1508760"/>
            <a:ext cx="2546604" cy="38404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4596" y="1508760"/>
            <a:ext cx="2180844" cy="3840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elemento FabLab 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5486400"/>
            <a:ext cx="254660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es, material y técnica: corte láser, impresión 3D o vinilo]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3DA2"/>
              </a:gs>
              <a:gs pos="52000">
                <a:srgbClr val="00807F"/>
              </a:gs>
              <a:gs pos="100000">
                <a:srgbClr val="00BE6A"/>
              </a:gs>
            </a:gsLst>
            <a:lin ang="18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n 11" descr="Universidad Ean"/>
          <p:cNvPicPr>
            <a:picLocks noChangeAspect="1"/>
          </p:cNvPicPr>
          <p:nvPr/>
        </p:nvPicPr>
        <p:blipFill>
          <a:blip r:embed="rId3"/>
          <a:srcRect l="-66" r="-66"/>
          <a:stretch/>
        </p:blipFill>
        <p:spPr>
          <a:xfrm>
            <a:off x="9931400" y="508000"/>
            <a:ext cx="1498600" cy="660400"/>
          </a:xfrm>
          <a:prstGeom prst="rect">
            <a:avLst/>
          </a:prstGeom>
        </p:spPr>
      </p:pic>
      <p:pic>
        <p:nvPicPr>
          <p:cNvPr id="12" name="Imagen 12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9931400" y="5892800"/>
            <a:ext cx="1498600" cy="482600"/>
          </a:xfrm>
          <a:prstGeom prst="rect">
            <a:avLst/>
          </a:prstGeom>
        </p:spPr>
      </p:pic>
      <p:sp>
        <p:nvSpPr>
          <p:cNvPr id="13" name="Antetítulo"/>
          <p:cNvSpPr/>
          <p:nvPr/>
        </p:nvSpPr>
        <p:spPr>
          <a:xfrm>
            <a:off x="762000" y="27178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[NOMBRE DE LA SOLUCIÓN]</a:t>
            </a:r>
            <a:endParaRPr lang="es-CO" sz="1400" dirty="0"/>
          </a:p>
        </p:txBody>
      </p:sp>
      <p:sp>
        <p:nvSpPr>
          <p:cNvPr id="14" name="Título"/>
          <p:cNvSpPr/>
          <p:nvPr/>
        </p:nvSpPr>
        <p:spPr>
          <a:xfrm>
            <a:off x="762000" y="3048000"/>
            <a:ext cx="889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Gracias · Preguntas</a:t>
            </a:r>
            <a:endParaRPr lang="es-CO" sz="5000" dirty="0"/>
          </a:p>
        </p:txBody>
      </p:sp>
      <p:sp>
        <p:nvSpPr>
          <p:cNvPr id="15" name="Subtítulo"/>
          <p:cNvSpPr/>
          <p:nvPr/>
        </p:nvSpPr>
        <p:spPr>
          <a:xfrm>
            <a:off x="762000" y="4724400"/>
            <a:ext cx="838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rgbClr val="DCECF5"/>
                </a:solidFill>
                <a:latin typeface="Arial"/>
                <a:ea typeface="Arial"/>
                <a:cs typeface="Arial"/>
              </a:rPr>
              <a:t>[Eslogan] · Repositorio: github.com/[usuario]/[repositorio]</a:t>
            </a:r>
            <a:endParaRPr lang="es-CO" sz="1800" dirty="0"/>
          </a:p>
        </p:txBody>
      </p:sp>
      <p:sp>
        <p:nvSpPr>
          <p:cNvPr id="16" name="Pie"/>
          <p:cNvSpPr/>
          <p:nvPr/>
        </p:nvSpPr>
        <p:spPr>
          <a:xfrm>
            <a:off x="762000" y="63119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Facultad de Ingeniería · Unidad de estudio transversal · Ciclo 4 de 2026</a:t>
            </a:r>
            <a:endParaRPr lang="es-CO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Anexo · Matriz de riesgos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Material de apoyo para las preguntas del jurado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docs/09-riesgos.md (issue 12)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87121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1508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Riesgo</a:t>
            </a:r>
          </a:p>
        </p:txBody>
      </p:sp>
      <p:sp>
        <p:nvSpPr>
          <p:cNvPr id="19" name="Tarjeta"/>
          <p:cNvSpPr/>
          <p:nvPr/>
        </p:nvSpPr>
        <p:spPr>
          <a:xfrm>
            <a:off x="3685032" y="1508760"/>
            <a:ext cx="1225295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22192" y="1508760"/>
            <a:ext cx="10058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Nivel</a:t>
            </a:r>
          </a:p>
        </p:txBody>
      </p:sp>
      <p:sp>
        <p:nvSpPr>
          <p:cNvPr id="21" name="Tarjeta"/>
          <p:cNvSpPr/>
          <p:nvPr/>
        </p:nvSpPr>
        <p:spPr>
          <a:xfrm>
            <a:off x="4965192" y="1508760"/>
            <a:ext cx="287121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1508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Tratamiento</a:t>
            </a:r>
          </a:p>
        </p:txBody>
      </p:sp>
      <p:sp>
        <p:nvSpPr>
          <p:cNvPr id="23" name="Tarjeta"/>
          <p:cNvSpPr/>
          <p:nvPr/>
        </p:nvSpPr>
        <p:spPr>
          <a:xfrm>
            <a:off x="7891271" y="1508760"/>
            <a:ext cx="1472184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1508760"/>
            <a:ext cx="12527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Responsable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1993391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1993391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[Riesgo 1]</a:t>
            </a:r>
          </a:p>
        </p:txBody>
      </p:sp>
      <p:sp>
        <p:nvSpPr>
          <p:cNvPr id="27" name="Tarjeta"/>
          <p:cNvSpPr/>
          <p:nvPr/>
        </p:nvSpPr>
        <p:spPr>
          <a:xfrm>
            <a:off x="3685032" y="1993391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22192" y="1993391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[Alto]</a:t>
            </a:r>
          </a:p>
        </p:txBody>
      </p:sp>
      <p:sp>
        <p:nvSpPr>
          <p:cNvPr id="29" name="Tarjeta"/>
          <p:cNvSpPr/>
          <p:nvPr/>
        </p:nvSpPr>
        <p:spPr>
          <a:xfrm>
            <a:off x="4965192" y="1993391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02352" y="1993391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[Evitar, reducir, transferir o aceptar]</a:t>
            </a:r>
          </a:p>
        </p:txBody>
      </p:sp>
      <p:sp>
        <p:nvSpPr>
          <p:cNvPr id="31" name="Tarjeta"/>
          <p:cNvSpPr/>
          <p:nvPr/>
        </p:nvSpPr>
        <p:spPr>
          <a:xfrm>
            <a:off x="7891271" y="1993391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28431" y="1993391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[Rol]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309067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09067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[Riesgo 2]</a:t>
            </a:r>
          </a:p>
        </p:txBody>
      </p:sp>
      <p:sp>
        <p:nvSpPr>
          <p:cNvPr id="35" name="Tarjeta"/>
          <p:cNvSpPr/>
          <p:nvPr/>
        </p:nvSpPr>
        <p:spPr>
          <a:xfrm>
            <a:off x="3685032" y="3090672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22192" y="3090672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[Medio]</a:t>
            </a:r>
          </a:p>
        </p:txBody>
      </p:sp>
      <p:sp>
        <p:nvSpPr>
          <p:cNvPr id="37" name="Tarjeta"/>
          <p:cNvSpPr/>
          <p:nvPr/>
        </p:nvSpPr>
        <p:spPr>
          <a:xfrm>
            <a:off x="4965192" y="309067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02352" y="309067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[Tratamiento]</a:t>
            </a:r>
          </a:p>
        </p:txBody>
      </p:sp>
      <p:sp>
        <p:nvSpPr>
          <p:cNvPr id="39" name="Tarjeta"/>
          <p:cNvSpPr/>
          <p:nvPr/>
        </p:nvSpPr>
        <p:spPr>
          <a:xfrm>
            <a:off x="7891271" y="3090672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28431" y="3090672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[Rol]</a:t>
            </a:r>
          </a:p>
        </p:txBody>
      </p:sp>
      <p:sp>
        <p:nvSpPr>
          <p:cNvPr id="41" name="Tarjeta"/>
          <p:cNvSpPr/>
          <p:nvPr/>
        </p:nvSpPr>
        <p:spPr>
          <a:xfrm>
            <a:off x="758952" y="418795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418795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[Riesgo 3]</a:t>
            </a:r>
          </a:p>
        </p:txBody>
      </p:sp>
      <p:sp>
        <p:nvSpPr>
          <p:cNvPr id="43" name="Tarjeta"/>
          <p:cNvSpPr/>
          <p:nvPr/>
        </p:nvSpPr>
        <p:spPr>
          <a:xfrm>
            <a:off x="3685032" y="4187952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22192" y="4187952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[Medio]</a:t>
            </a:r>
          </a:p>
        </p:txBody>
      </p:sp>
      <p:sp>
        <p:nvSpPr>
          <p:cNvPr id="45" name="Tarjeta"/>
          <p:cNvSpPr/>
          <p:nvPr/>
        </p:nvSpPr>
        <p:spPr>
          <a:xfrm>
            <a:off x="4965192" y="418795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418795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[Tratamiento]</a:t>
            </a:r>
          </a:p>
        </p:txBody>
      </p:sp>
      <p:sp>
        <p:nvSpPr>
          <p:cNvPr id="47" name="Tarjeta"/>
          <p:cNvSpPr/>
          <p:nvPr/>
        </p:nvSpPr>
        <p:spPr>
          <a:xfrm>
            <a:off x="7891271" y="4187952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28431" y="4187952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[Rol]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5486400"/>
            <a:ext cx="8659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Perfil de ciberseguridad: [qué datos maneja la solución y cómo se protegen]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Anexo · Declaración de uso de IA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Acuerdo CSU 006 de 2025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docs/11-uso-ia.md (issue 17)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177393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15087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Herramienta</a:t>
            </a:r>
          </a:p>
        </p:txBody>
      </p:sp>
      <p:sp>
        <p:nvSpPr>
          <p:cNvPr id="19" name="Tarjeta"/>
          <p:cNvSpPr/>
          <p:nvPr/>
        </p:nvSpPr>
        <p:spPr>
          <a:xfrm>
            <a:off x="2587752" y="1508760"/>
            <a:ext cx="131673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24912" y="15087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Fecha</a:t>
            </a:r>
          </a:p>
        </p:txBody>
      </p:sp>
      <p:sp>
        <p:nvSpPr>
          <p:cNvPr id="21" name="Tarjeta"/>
          <p:cNvSpPr/>
          <p:nvPr/>
        </p:nvSpPr>
        <p:spPr>
          <a:xfrm>
            <a:off x="3959352" y="1508760"/>
            <a:ext cx="232257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96512" y="1508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Para qué</a:t>
            </a:r>
          </a:p>
        </p:txBody>
      </p:sp>
      <p:sp>
        <p:nvSpPr>
          <p:cNvPr id="23" name="Tarjeta"/>
          <p:cNvSpPr/>
          <p:nvPr/>
        </p:nvSpPr>
        <p:spPr>
          <a:xfrm>
            <a:off x="6336792" y="1508760"/>
            <a:ext cx="3026664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1508760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Prompt (resumen)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1993391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1993391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[Herramienta y versión]</a:t>
            </a:r>
          </a:p>
        </p:txBody>
      </p:sp>
      <p:sp>
        <p:nvSpPr>
          <p:cNvPr id="27" name="Tarjeta"/>
          <p:cNvSpPr/>
          <p:nvPr/>
        </p:nvSpPr>
        <p:spPr>
          <a:xfrm>
            <a:off x="2587752" y="1993391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24912" y="1993391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[dd/mm]</a:t>
            </a:r>
          </a:p>
        </p:txBody>
      </p:sp>
      <p:sp>
        <p:nvSpPr>
          <p:cNvPr id="29" name="Tarjeta"/>
          <p:cNvSpPr/>
          <p:nvPr/>
        </p:nvSpPr>
        <p:spPr>
          <a:xfrm>
            <a:off x="3959352" y="1993391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96512" y="1993391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[Entregable]</a:t>
            </a:r>
          </a:p>
        </p:txBody>
      </p:sp>
      <p:sp>
        <p:nvSpPr>
          <p:cNvPr id="31" name="Tarjeta"/>
          <p:cNvSpPr/>
          <p:nvPr/>
        </p:nvSpPr>
        <p:spPr>
          <a:xfrm>
            <a:off x="6336792" y="1993391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1993391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[Prompt usado]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3090672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090672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[Herramienta]</a:t>
            </a:r>
          </a:p>
        </p:txBody>
      </p:sp>
      <p:sp>
        <p:nvSpPr>
          <p:cNvPr id="35" name="Tarjeta"/>
          <p:cNvSpPr/>
          <p:nvPr/>
        </p:nvSpPr>
        <p:spPr>
          <a:xfrm>
            <a:off x="2587752" y="3090672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24912" y="3090672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[dd/mm]</a:t>
            </a:r>
          </a:p>
        </p:txBody>
      </p:sp>
      <p:sp>
        <p:nvSpPr>
          <p:cNvPr id="37" name="Tarjeta"/>
          <p:cNvSpPr/>
          <p:nvPr/>
        </p:nvSpPr>
        <p:spPr>
          <a:xfrm>
            <a:off x="3959352" y="3090672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96512" y="3090672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[Entregable]</a:t>
            </a:r>
          </a:p>
        </p:txBody>
      </p:sp>
      <p:sp>
        <p:nvSpPr>
          <p:cNvPr id="39" name="Tarjeta"/>
          <p:cNvSpPr/>
          <p:nvPr/>
        </p:nvSpPr>
        <p:spPr>
          <a:xfrm>
            <a:off x="6336792" y="3090672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3090672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[Prompt usado]</a:t>
            </a:r>
          </a:p>
        </p:txBody>
      </p:sp>
      <p:sp>
        <p:nvSpPr>
          <p:cNvPr id="41" name="Tarjeta"/>
          <p:cNvSpPr/>
          <p:nvPr/>
        </p:nvSpPr>
        <p:spPr>
          <a:xfrm>
            <a:off x="758952" y="4187952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4187952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[Herramienta]</a:t>
            </a:r>
          </a:p>
        </p:txBody>
      </p:sp>
      <p:sp>
        <p:nvSpPr>
          <p:cNvPr id="43" name="Tarjeta"/>
          <p:cNvSpPr/>
          <p:nvPr/>
        </p:nvSpPr>
        <p:spPr>
          <a:xfrm>
            <a:off x="2587752" y="4187952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24912" y="4187952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[dd/mm]</a:t>
            </a:r>
          </a:p>
        </p:txBody>
      </p:sp>
      <p:sp>
        <p:nvSpPr>
          <p:cNvPr id="45" name="Tarjeta"/>
          <p:cNvSpPr/>
          <p:nvPr/>
        </p:nvSpPr>
        <p:spPr>
          <a:xfrm>
            <a:off x="3959352" y="4187952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96512" y="4187952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[Entregable]</a:t>
            </a:r>
          </a:p>
        </p:txBody>
      </p:sp>
      <p:sp>
        <p:nvSpPr>
          <p:cNvPr id="47" name="Tarjeta"/>
          <p:cNvSpPr/>
          <p:nvPr/>
        </p:nvSpPr>
        <p:spPr>
          <a:xfrm>
            <a:off x="6336792" y="4187952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4187952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[Prompt usado]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E1A0F8-4AF4-4F64-A72D-BDEFEDF5EBB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45e2882-ca13-4bf6-9d6e-9d0bd96ce35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2303</Words>
  <Application>Microsoft Office PowerPoint</Application>
  <PresentationFormat>Panorámica</PresentationFormat>
  <Paragraphs>386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Pitch Trend &amp; Tech 2026</dc:title>
  <dc:creator>Ferney Torres Ome</dc:creator>
  <cp:keywords/>
  <dc:description/>
  <cp:lastModifiedBy>Ferney Torres</cp:lastModifiedBy>
  <cp:revision>2</cp:revision>
  <dcterms:created xsi:type="dcterms:W3CDTF">2026-10-08T13:46:20Z</dcterms:created>
  <dcterms:modified xsi:type="dcterms:W3CDTF">2026-10-21T16:25:39Z</dcterms:modified>
</cp:coreProperties>
</file>